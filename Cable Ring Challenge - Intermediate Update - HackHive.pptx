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95" autoAdjust="0"/>
  </p:normalViewPr>
  <p:slideViewPr>
    <p:cSldViewPr snapToGrid="0">
      <p:cViewPr>
        <p:scale>
          <a:sx n="100" d="100"/>
          <a:sy n="100" d="100"/>
        </p:scale>
        <p:origin x="48" y="-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, Ragesh" userId="c00c8851-4f08-4919-99de-76ff1d9f4056" providerId="ADAL" clId="{06CEA498-E081-4B8C-9E43-9D24894E684B}"/>
    <pc:docChg chg="undo custSel addSld delSld modSld">
      <pc:chgData name="R, Ragesh" userId="c00c8851-4f08-4919-99de-76ff1d9f4056" providerId="ADAL" clId="{06CEA498-E081-4B8C-9E43-9D24894E684B}" dt="2026-10-16T05:22:04.082" v="149" actId="20577"/>
      <pc:docMkLst>
        <pc:docMk/>
      </pc:docMkLst>
      <pc:sldChg chg="addSp delSp modSp mod">
        <pc:chgData name="R, Ragesh" userId="c00c8851-4f08-4919-99de-76ff1d9f4056" providerId="ADAL" clId="{06CEA498-E081-4B8C-9E43-9D24894E684B}" dt="2026-10-16T05:22:04.082" v="149" actId="20577"/>
        <pc:sldMkLst>
          <pc:docMk/>
          <pc:sldMk cId="0" sldId="256"/>
        </pc:sldMkLst>
        <pc:spChg chg="add del">
          <ac:chgData name="R, Ragesh" userId="c00c8851-4f08-4919-99de-76ff1d9f4056" providerId="ADAL" clId="{06CEA498-E081-4B8C-9E43-9D24894E684B}" dt="2026-10-16T05:21:45.910" v="124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6T05:22:04.082" v="149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">
        <pc:chgData name="R, Ragesh" userId="c00c8851-4f08-4919-99de-76ff1d9f4056" providerId="ADAL" clId="{06CEA498-E081-4B8C-9E43-9D24894E684B}" dt="2026-10-16T05:21:47.869" v="125" actId="478"/>
        <pc:sldMkLst>
          <pc:docMk/>
          <pc:sldMk cId="0" sldId="257"/>
        </pc:sldMkLst>
        <pc:spChg chg="add del">
          <ac:chgData name="R, Ragesh" userId="c00c8851-4f08-4919-99de-76ff1d9f4056" providerId="ADAL" clId="{06CEA498-E081-4B8C-9E43-9D24894E684B}" dt="2026-10-16T05:21:47.869" v="125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6T05:21:29.740" v="121" actId="478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R, Ragesh" userId="c00c8851-4f08-4919-99de-76ff1d9f4056" providerId="ADAL" clId="{06CEA498-E081-4B8C-9E43-9D24894E684B}" dt="2026-10-16T05:21:14.672" v="120" actId="20577"/>
        <pc:sldMkLst>
          <pc:docMk/>
          <pc:sldMk cId="0" sldId="258"/>
        </pc:sldMkLst>
        <pc:spChg chg="mod">
          <ac:chgData name="R, Ragesh" userId="c00c8851-4f08-4919-99de-76ff1d9f4056" providerId="ADAL" clId="{06CEA498-E081-4B8C-9E43-9D24894E684B}" dt="2026-10-16T05:21:14.672" v="12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5T12:10:23.808" v="117" actId="14100"/>
          <ac:spMkLst>
            <pc:docMk/>
            <pc:sldMk cId="0" sldId="258"/>
            <ac:spMk id="44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5T12:10:32.193" v="119" actId="1036"/>
          <ac:spMkLst>
            <pc:docMk/>
            <pc:sldMk cId="0" sldId="258"/>
            <ac:spMk id="59" creationId="{00000000-0000-0000-0000-000000000000}"/>
          </ac:spMkLst>
        </pc:spChg>
      </pc:sldChg>
      <pc:sldChg chg="delSp modSp mod">
        <pc:chgData name="R, Ragesh" userId="c00c8851-4f08-4919-99de-76ff1d9f4056" providerId="ADAL" clId="{06CEA498-E081-4B8C-9E43-9D24894E684B}" dt="2026-10-15T10:27:29.146" v="82" actId="20577"/>
        <pc:sldMkLst>
          <pc:docMk/>
          <pc:sldMk cId="0" sldId="260"/>
        </pc:sldMkLst>
        <pc:spChg chg="mod">
          <ac:chgData name="R, Ragesh" userId="c00c8851-4f08-4919-99de-76ff1d9f4056" providerId="ADAL" clId="{06CEA498-E081-4B8C-9E43-9D24894E684B}" dt="2026-10-15T10:27:29.146" v="82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20" creationId="{00000000-0000-0000-0000-000000000000}"/>
          </ac:spMkLst>
        </pc:spChg>
      </pc:sldChg>
      <pc:sldChg chg="new del">
        <pc:chgData name="R, Ragesh" userId="c00c8851-4f08-4919-99de-76ff1d9f4056" providerId="ADAL" clId="{06CEA498-E081-4B8C-9E43-9D24894E684B}" dt="2026-10-15T10:26:53.174" v="2" actId="47"/>
        <pc:sldMkLst>
          <pc:docMk/>
          <pc:sldMk cId="1365799064" sldId="263"/>
        </pc:sldMkLst>
      </pc:sldChg>
      <pc:sldChg chg="new del">
        <pc:chgData name="R, Ragesh" userId="c00c8851-4f08-4919-99de-76ff1d9f4056" providerId="ADAL" clId="{06CEA498-E081-4B8C-9E43-9D24894E684B}" dt="2026-10-15T10:52:18.225" v="84" actId="47"/>
        <pc:sldMkLst>
          <pc:docMk/>
          <pc:sldMk cId="2915397632" sldId="26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80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B8C5-17D2-10B8-E10C-B6CF7958B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65844-3EE9-7F97-A7AE-989AFA3DF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56DE2-82A4-7BF8-DFD2-845421BA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49C70-691C-D0CB-51A1-53282A3C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CAB0F-4E02-6456-3A1C-4CCD05A0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5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1EE-43EC-3853-5540-F0A8BBAA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3E7E8-140B-152A-B3F1-462DB90F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E9BDC-967E-D42E-DEF0-D37C0346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C5A7E-724E-7221-7C66-47B90DB5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BF641-64FD-A5BC-95AC-64055DD3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8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E071-6F43-2CAB-8B9E-468D262F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B2DD-BDF8-2F12-6851-82828FB30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DF150-1266-1EF5-D4B2-3986DF86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6900-785C-E200-A93B-2BB7794B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56D91-075A-13C7-C41C-47ABC7BF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2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E331-8445-F510-1E95-DBCE64DB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970BB-CA18-C9E3-606A-0A50D2F32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3A77F-07B2-A649-78CB-E0B8D42FD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DAF48-7327-D7C3-CE4A-39F865BD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DDF75-79E4-1A39-1042-6A2CF895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34CA5-BE73-5F62-DD52-948BD8F9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40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9BFD-F080-97DD-D637-82E2F9C0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27D96-7F95-17EC-3305-7A6DC9BD4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B8A67-D90B-E802-7845-2F22A2710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8DC10-106D-B64D-FB50-BF085858C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67623-D629-467D-7B25-E94DDB216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1B685-467F-14B1-9BC4-24F9469C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F4731-F439-4E7C-7AF4-EFE01D72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BC797-3603-1F9C-9B07-533C1DF9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15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7C03-3544-B28F-6942-871B3E69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2ACA9-B585-8441-4A04-FF453FB9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9FA25-4602-857D-B9D0-9E9072FD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2D7D4-EA8A-BFAD-5AFD-E24DA6C1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84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C080E-5529-E076-0597-A800FCB9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FF22E-2B44-27C7-5D31-14C9C56A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3C5D-AAE8-4BE7-C500-F3751104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39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A181-10D0-551F-2D7F-6ECB5BEE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6A4A5-A317-A2B5-0837-5E85E0F8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3BDD-1E33-67BD-2264-8A55C6E12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1349D-D702-8D5F-B37E-5C4DCAF6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DF4F3-A2C1-A92E-291F-77166CB9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B5ACF-ADDC-C7FC-7496-8820358F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509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7DB0-C228-7504-1F1C-43A821475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67BC9-1F93-7364-EAE7-905ABD9F327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DFAB1-DEAB-BFEF-DAC8-5A1AF199D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FD094-AAE7-67B8-F15E-60A50098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2755A-6EE4-1ED9-66D4-0B6E81A8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D0E7A-956D-926E-B314-9E821178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7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0AD22-F4F0-1619-76EA-58009518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F2D17-AF1B-B88E-AA12-A22217B17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A643-5D97-B3A6-1CAF-DB180290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421CB-2117-26CB-71B6-0575B6EE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E66CE-505C-427A-6608-0D933143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30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FEB76-9EB8-6E77-1FFE-3B57D9EC5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18A65-3491-BA2A-960F-5CE649DA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51B54-F18F-2548-33A8-5AAD1F17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4768-D1F4-9FE3-E47F-EC408204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36E3-45CE-F15E-985F-C3F4A1DC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5622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C54A0-72D7-8473-E5A0-AACDA9DB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101D5-28D4-0176-2A7A-E4CC1DD42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B39ED-0C5C-FFA0-C3E2-328FC981C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BC1E-B30B-5E8C-59C2-DCB66684A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A00B0-9CBC-DC60-91C0-DDA54A321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4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Solution approach and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0"/>
                </a:solidFill>
                <a:latin typeface="Aptos"/>
              </a:rPr>
              <a:t>How does your system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Plain Python: one command turns every plan into JSON + an overlay image. No manual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Intermediate update  |  Team: HackHive  |  1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74552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33581"/>
            <a:ext cx="11064240" cy="22467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Team:  </a:t>
            </a:r>
            <a:r>
              <a:rPr sz="1100" b="0" i="0" dirty="0">
                <a:solidFill>
                  <a:srgbClr val="1F2933"/>
                </a:solidFill>
                <a:latin typeface="Aptos"/>
              </a:rPr>
              <a:t>HackHive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                              </a:t>
            </a:r>
            <a:r>
              <a:rPr sz="1100" b="1" i="0" dirty="0">
                <a:solidFill>
                  <a:srgbClr val="1F2933"/>
                </a:solidFill>
                <a:latin typeface="Aptos"/>
              </a:rPr>
              <a:t>Members:  </a:t>
            </a:r>
            <a:r>
              <a:rPr sz="1100" b="0" i="0" dirty="0">
                <a:solidFill>
                  <a:srgbClr val="1F2933"/>
                </a:solidFill>
                <a:latin typeface="Aptos"/>
              </a:rPr>
              <a:t>Abhinav</a:t>
            </a:r>
            <a:r>
              <a:rPr sz="1100" b="0" i="0" dirty="0">
                <a:solidFill>
                  <a:srgbClr val="7B8794"/>
                </a:solidFill>
                <a:latin typeface="Aptos"/>
              </a:rPr>
              <a:t>   [add the other team members]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7040880" cy="42976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676656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Our approach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free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6675120" cy="2834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50" b="1" i="0" dirty="0">
                <a:solidFill>
                  <a:srgbClr val="1F2933"/>
                </a:solidFill>
                <a:latin typeface="Aptos"/>
              </a:rPr>
              <a:t>Hubs and zones: </a:t>
            </a:r>
            <a:r>
              <a:rPr sz="1050" b="0" i="0" dirty="0">
                <a:solidFill>
                  <a:srgbClr val="323F4B"/>
                </a:solidFill>
                <a:latin typeface="Aptos"/>
              </a:rPr>
              <a:t>list every zone that fits rule 2 (≤ 5 devices, ≤ 100 m²) and rule 3 (rooms linked by doors or open passages, graph search), then an exact-cover search over all splits into k hubs, k = max(area/100, devices/5) rounded up, then k + 1, …  The hub count is the fewest possible.</a:t>
            </a:r>
          </a:p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50" b="1" i="0" dirty="0">
                <a:solidFill>
                  <a:srgbClr val="1F2933"/>
                </a:solidFill>
                <a:latin typeface="Aptos"/>
              </a:rPr>
              <a:t>Hub point + node order: </a:t>
            </a:r>
            <a:r>
              <a:rPr sz="1050" b="0" i="0" dirty="0">
                <a:solidFill>
                  <a:srgbClr val="323F4B"/>
                </a:solidFill>
                <a:latin typeface="Aptos"/>
              </a:rPr>
              <a:t>direction-aware Dijkstra from every device (state = grid point + heading, 0.5 per turn) and a min-plus DP over all visiting orders give the exact length + bends of the ring at every legal hub point. The cheapest point wins; its cost is a lower bound on J.</a:t>
            </a:r>
          </a:p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50" b="1" i="0" dirty="0">
                <a:solidFill>
                  <a:srgbClr val="1F2933"/>
                </a:solidFill>
                <a:latin typeface="Aptos"/>
              </a:rPr>
              <a:t>Routing: </a:t>
            </a:r>
            <a:r>
              <a:rPr sz="1050" b="0" i="0" dirty="0">
                <a:solidFill>
                  <a:srgbClr val="323F4B"/>
                </a:solidFill>
                <a:latin typeface="Aptos"/>
              </a:rPr>
              <a:t>each leg is a Dijkstra on the grid whose step costs are exactly what it adds to J: length, 0.5 per bend, 1 per m on a used line, 5 for a new crossing. Other hubs and devices are blocked; an exact cost-to-go per arrival direction stops legs arriving the wrong way.</a:t>
            </a:r>
          </a:p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50" b="1" i="0" dirty="0">
                <a:solidFill>
                  <a:srgbClr val="1F2933"/>
                </a:solidFill>
                <a:latin typeface="Aptos"/>
              </a:rPr>
              <a:t>Crossings, overlap, bends: </a:t>
            </a:r>
            <a:r>
              <a:rPr sz="1050" b="0" i="0" dirty="0">
                <a:solidFill>
                  <a:srgbClr val="323F4B"/>
                </a:solidFill>
                <a:latin typeface="Aptos"/>
              </a:rPr>
              <a:t>penalised inside the router; orders and zone splits are tried cheapest-bound first with branch and bound; then rip-up and reroute keeps a change only if J drops. An independent checker re-measures L, X, O, B from the output polylines.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buNone/>
            </a:pPr>
            <a:r>
              <a:rPr sz="1050" b="1" i="0" dirty="0">
                <a:solidFill>
                  <a:srgbClr val="C8102E"/>
                </a:solidFill>
                <a:latin typeface="Aptos"/>
              </a:rPr>
              <a:t>Why: </a:t>
            </a:r>
            <a:r>
              <a:rPr sz="1050" b="0" i="0" dirty="0">
                <a:solidFill>
                  <a:srgbClr val="1F2933"/>
                </a:solidFill>
                <a:latin typeface="Aptos"/>
              </a:rPr>
              <a:t>the router optimises the exact scoring formula, and exact lower bounds prove the hub count and let us prune without losing the best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2011680"/>
            <a:ext cx="4123944" cy="42976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2075688"/>
            <a:ext cx="3849624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Assumptions and choices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free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242316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2514600"/>
            <a:ext cx="3794760" cy="3749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Devices: </a:t>
            </a:r>
            <a:r>
              <a:rPr sz="1000" b="0" i="0" dirty="0">
                <a:solidFill>
                  <a:srgbClr val="323F4B"/>
                </a:solidFill>
                <a:latin typeface="Aptos"/>
              </a:rPr>
              <a:t>one per living room, bedroom, kitchen and storage room; none in bathrooms, balconies or stairs. At the room centre, or the nearest point ≥ 0.5 m from walls and windows.</a:t>
            </a:r>
          </a:p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Cable: </a:t>
            </a:r>
            <a:r>
              <a:rPr sz="1000" b="0" i="0" dirty="0">
                <a:solidFill>
                  <a:srgbClr val="323F4B"/>
                </a:solidFill>
                <a:latin typeface="Aptos"/>
              </a:rPr>
              <a:t>inside the plan outline on the 0.1 m grid, never through walls or windows, between rooms only through door or open-passage gaps; it may cross any room.</a:t>
            </a:r>
          </a:p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Hub point: </a:t>
            </a:r>
            <a:r>
              <a:rPr sz="1000" b="0" i="0" dirty="0">
                <a:solidFill>
                  <a:srgbClr val="323F4B"/>
                </a:solidFill>
                <a:latin typeface="Aptos"/>
              </a:rPr>
              <a:t>a grid point in a room of its own zone, ≥ 0.5 m from walls and windows, with the cheapest exact ring; it may sit right next to its only device.</a:t>
            </a:r>
          </a:p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One-door room: </a:t>
            </a:r>
            <a:r>
              <a:rPr sz="1000" b="0" i="0" dirty="0">
                <a:solidFill>
                  <a:srgbClr val="323F4B"/>
                </a:solidFill>
                <a:latin typeface="Aptos"/>
              </a:rPr>
              <a:t>the ring goes in and out on parallel lines 0.1 m apart, or on the same line when cheaper (then counted as overlap). A U-turn at a device is 1 bend.</a:t>
            </a:r>
          </a:p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Rule 3: </a:t>
            </a:r>
            <a:r>
              <a:rPr sz="1000" b="0" i="0" dirty="0">
                <a:solidFill>
                  <a:srgbClr val="323F4B"/>
                </a:solidFill>
                <a:latin typeface="Aptos"/>
              </a:rPr>
              <a:t>rooms count as linked through doors or open passages (wall-free gap ≥ 2 × wall depth), not windows; the chain may pass through any room. The strict reading is kept as an option.</a:t>
            </a:r>
          </a:p>
          <a:p>
            <a:pPr algn="l" marL="155448" indent="-155448">
              <a:spcAft>
                <a:spcPts val="400"/>
              </a:spcAft>
              <a:buClr>
                <a:srgbClr val="C8102E"/>
              </a:buClr>
              <a:buFont typeface="Arial"/>
              <a:buChar char="•"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Our readings: </a:t>
            </a:r>
            <a:r>
              <a:rPr sz="1000" b="0" i="0" dirty="0">
                <a:solidFill>
                  <a:srgbClr val="323F4B"/>
                </a:solidFill>
                <a:latin typeface="Aptos"/>
              </a:rPr>
              <a:t>a crossing is counted once per point, touches included; no wire passes through another hub or device; a room over 100 m² gets its own hub and is flagged invalid.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60320"/>
            <a:ext cx="101955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Aft>
                <a:spcPts val="100"/>
              </a:spcAft>
              <a:buNone/>
            </a:pPr>
            <a:r>
              <a:rPr sz="950" b="1" i="0" dirty="0">
                <a:solidFill>
                  <a:srgbClr val="C8102E"/>
                </a:solidFill>
                <a:latin typeface="Aptos"/>
              </a:rPr>
              <a:t>1  </a:t>
            </a:r>
            <a:r>
              <a:rPr sz="950" b="1" i="0" dirty="0">
                <a:solidFill>
                  <a:srgbClr val="1F2933"/>
                </a:solidFill>
                <a:latin typeface="Aptos"/>
              </a:rPr>
              <a:t>Read plan</a:t>
            </a:r>
          </a:p>
          <a:p>
            <a:pPr algn="l">
              <a:spcAft>
                <a:spcPts val="0"/>
              </a:spcAft>
              <a:buNone/>
            </a:pPr>
            <a:r>
              <a:rPr sz="800" b="0" i="0" dirty="0">
                <a:solidFill>
                  <a:srgbClr val="52606D"/>
                </a:solidFill>
                <a:latin typeface="Aptos"/>
              </a:rPr>
              <a:t>drawing units → metres; add 1 device per room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1682495" y="2880360"/>
            <a:ext cx="73152" cy="91440"/>
          </a:xfrm>
          <a:prstGeom prst="triangle">
            <a:avLst/>
          </a:prstGeom>
          <a:solidFill>
            <a:srgbClr val="9AA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78508" y="2560320"/>
            <a:ext cx="101955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Aft>
                <a:spcPts val="100"/>
              </a:spcAft>
              <a:buNone/>
            </a:pPr>
            <a:r>
              <a:rPr sz="950" b="1" i="0" dirty="0">
                <a:solidFill>
                  <a:srgbClr val="C8102E"/>
                </a:solidFill>
                <a:latin typeface="Aptos"/>
              </a:rPr>
              <a:t>2  </a:t>
            </a:r>
            <a:r>
              <a:rPr sz="950" b="1" i="0" dirty="0">
                <a:solidFill>
                  <a:srgbClr val="1F2933"/>
                </a:solidFill>
                <a:latin typeface="Aptos"/>
              </a:rPr>
              <a:t>Grid</a:t>
            </a:r>
          </a:p>
          <a:p>
            <a:pPr algn="l">
              <a:spcAft>
                <a:spcPts val="0"/>
              </a:spcAft>
              <a:buNone/>
            </a:pPr>
            <a:r>
              <a:rPr sz="800" b="0" i="0" dirty="0">
                <a:solidFill>
                  <a:srgbClr val="52606D"/>
                </a:solidFill>
                <a:latin typeface="Aptos"/>
              </a:rPr>
              <a:t>0.1 m lines + a line through every device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2820924" y="2880360"/>
            <a:ext cx="73152" cy="91440"/>
          </a:xfrm>
          <a:prstGeom prst="triangle">
            <a:avLst/>
          </a:prstGeom>
          <a:solidFill>
            <a:srgbClr val="9AA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16936" y="2560320"/>
            <a:ext cx="101955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Aft>
                <a:spcPts val="100"/>
              </a:spcAft>
              <a:buNone/>
            </a:pPr>
            <a:r>
              <a:rPr sz="950" b="1" i="0" dirty="0">
                <a:solidFill>
                  <a:srgbClr val="C8102E"/>
                </a:solidFill>
                <a:latin typeface="Aptos"/>
              </a:rPr>
              <a:t>3  </a:t>
            </a:r>
            <a:r>
              <a:rPr sz="950" b="1" i="0" dirty="0">
                <a:solidFill>
                  <a:srgbClr val="1F2933"/>
                </a:solidFill>
                <a:latin typeface="Aptos"/>
              </a:rPr>
              <a:t>Zones</a:t>
            </a:r>
          </a:p>
          <a:p>
            <a:pPr algn="l">
              <a:spcAft>
                <a:spcPts val="0"/>
              </a:spcAft>
              <a:buNone/>
            </a:pPr>
            <a:r>
              <a:rPr sz="800" b="0" i="0" dirty="0">
                <a:solidFill>
                  <a:srgbClr val="52606D"/>
                </a:solidFill>
                <a:latin typeface="Aptos"/>
              </a:rPr>
              <a:t>exact search: fewest hubs, rules 2 + 3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3959352" y="2880360"/>
            <a:ext cx="73152" cy="91440"/>
          </a:xfrm>
          <a:prstGeom prst="triangle">
            <a:avLst/>
          </a:prstGeom>
          <a:solidFill>
            <a:srgbClr val="9AA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55364" y="2560320"/>
            <a:ext cx="101955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Aft>
                <a:spcPts val="100"/>
              </a:spcAft>
              <a:buNone/>
            </a:pPr>
            <a:r>
              <a:rPr sz="950" b="1" i="0" dirty="0">
                <a:solidFill>
                  <a:srgbClr val="C8102E"/>
                </a:solidFill>
                <a:latin typeface="Aptos"/>
              </a:rPr>
              <a:t>4  </a:t>
            </a:r>
            <a:r>
              <a:rPr sz="950" b="1" i="0" dirty="0">
                <a:solidFill>
                  <a:srgbClr val="1F2933"/>
                </a:solidFill>
                <a:latin typeface="Aptos"/>
              </a:rPr>
              <a:t>Hub points</a:t>
            </a:r>
          </a:p>
          <a:p>
            <a:pPr algn="l">
              <a:spcAft>
                <a:spcPts val="0"/>
              </a:spcAft>
              <a:buNone/>
            </a:pPr>
            <a:r>
              <a:rPr sz="800" b="0" i="0" dirty="0">
                <a:solidFill>
                  <a:srgbClr val="52606D"/>
                </a:solidFill>
                <a:latin typeface="Aptos"/>
              </a:rPr>
              <a:t>exact ring cost at every legal point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5097780" y="2880360"/>
            <a:ext cx="73152" cy="91440"/>
          </a:xfrm>
          <a:prstGeom prst="triangle">
            <a:avLst/>
          </a:prstGeom>
          <a:solidFill>
            <a:srgbClr val="9AA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93792" y="2560320"/>
            <a:ext cx="101955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Aft>
                <a:spcPts val="100"/>
              </a:spcAft>
              <a:buNone/>
            </a:pPr>
            <a:r>
              <a:rPr sz="950" b="1" i="0" dirty="0">
                <a:solidFill>
                  <a:srgbClr val="C8102E"/>
                </a:solidFill>
                <a:latin typeface="Aptos"/>
              </a:rPr>
              <a:t>5  </a:t>
            </a:r>
            <a:r>
              <a:rPr sz="950" b="1" i="0" dirty="0">
                <a:solidFill>
                  <a:srgbClr val="1F2933"/>
                </a:solidFill>
                <a:latin typeface="Aptos"/>
              </a:rPr>
              <a:t>Rings</a:t>
            </a:r>
          </a:p>
          <a:p>
            <a:pPr algn="l">
              <a:spcAft>
                <a:spcPts val="0"/>
              </a:spcAft>
              <a:buNone/>
            </a:pPr>
            <a:r>
              <a:rPr sz="800" b="0" i="0" dirty="0">
                <a:solidFill>
                  <a:srgbClr val="52606D"/>
                </a:solidFill>
                <a:latin typeface="Aptos"/>
              </a:rPr>
              <a:t>leg-by-leg Dijkstra that pays the real J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6236208" y="2880360"/>
            <a:ext cx="73152" cy="91440"/>
          </a:xfrm>
          <a:prstGeom prst="triangle">
            <a:avLst/>
          </a:prstGeom>
          <a:solidFill>
            <a:srgbClr val="9AA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2220" y="2560320"/>
            <a:ext cx="101955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27432" bIns="27432" wrap="square"/>
          <a:lstStyle/>
          <a:p>
            <a:pPr algn="l">
              <a:spcAft>
                <a:spcPts val="100"/>
              </a:spcAft>
              <a:buNone/>
            </a:pPr>
            <a:r>
              <a:rPr sz="950" b="1" i="0" dirty="0">
                <a:solidFill>
                  <a:srgbClr val="C8102E"/>
                </a:solidFill>
                <a:latin typeface="Aptos"/>
              </a:rPr>
              <a:t>6  </a:t>
            </a:r>
            <a:r>
              <a:rPr sz="950" b="1" i="0" dirty="0">
                <a:solidFill>
                  <a:srgbClr val="1F2933"/>
                </a:solidFill>
                <a:latin typeface="Aptos"/>
              </a:rPr>
              <a:t>Clean-up</a:t>
            </a:r>
          </a:p>
          <a:p>
            <a:pPr algn="l">
              <a:spcAft>
                <a:spcPts val="0"/>
              </a:spcAft>
              <a:buNone/>
            </a:pPr>
            <a:r>
              <a:rPr sz="800" b="0" i="0" dirty="0">
                <a:solidFill>
                  <a:srgbClr val="52606D"/>
                </a:solidFill>
                <a:latin typeface="Aptos"/>
              </a:rPr>
              <a:t>rip-up + reroute, then re-measure 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Current progress and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0"/>
                </a:solidFill>
                <a:latin typeface="Aptos"/>
              </a:rPr>
              <a:t>What works today? Show it, and show what does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Figures drawn from our output JSON. Results: ResPlan test split, 1,632 plans.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Intermediate update  |  Team: HackHive  |  2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118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77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422392"/>
            <a:ext cx="3611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 dirty="0">
                <a:solidFill>
                  <a:srgbClr val="1F2933"/>
                </a:solidFill>
                <a:latin typeface="Aptos"/>
              </a:rPr>
              <a:t>Best result so far: PLAN_002969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63040"/>
            <a:ext cx="36118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77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5422392"/>
            <a:ext cx="3611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 dirty="0">
                <a:solidFill>
                  <a:srgbClr val="1F2933"/>
                </a:solidFill>
                <a:latin typeface="Aptos"/>
              </a:rPr>
              <a:t>A hard case: PLAN_000596, rule 2 impossible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463040"/>
            <a:ext cx="3822191" cy="484632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527048"/>
            <a:ext cx="354787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Where we are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free 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965960"/>
            <a:ext cx="3520440" cy="4297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What works</a:t>
            </a:r>
          </a:p>
          <a:p>
            <a:pPr algn="l" marL="155448" indent="-155448">
              <a:spcAft>
                <a:spcPts val="25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The full pipeline in plain Python: plan → devices → zones → hubs → rings → JSON + overlay, for any set of plans.</a:t>
            </a:r>
          </a:p>
          <a:p>
            <a:pPr algn="l" marL="155448" indent="-155448">
              <a:spcAft>
                <a:spcPts val="25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Every one of the 1,516 test plans inside the benchmark is valid; the independent checker agrees on all.</a:t>
            </a:r>
          </a:p>
          <a:p>
            <a:pPr algn="l" marL="155448" indent="-155448">
              <a:spcAft>
                <a:spcPts val="60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Web app (Cable Ring Studio) shows any plan being solved live, stage by stage.</a:t>
            </a:r>
          </a:p>
          <a:p>
            <a:pPr algn="l">
              <a:spcAft>
                <a:spcPts val="200"/>
              </a:spcAft>
              <a:buNone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What does not work yet</a:t>
            </a:r>
          </a:p>
          <a:p>
            <a:pPr algn="l" marL="155448" indent="-155448">
              <a:spcAft>
                <a:spcPts val="25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46 plans outside the benchmark: 42 have a room over 100 m², 4 a sliver room or a device the cable cannot reach.</a:t>
            </a:r>
          </a:p>
          <a:p>
            <a:pPr algn="l" marL="155448" indent="-155448">
              <a:spcAft>
                <a:spcPts val="60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J is still 2.0 above our lower bound on average; the slowest plan takes 122 s.</a:t>
            </a:r>
          </a:p>
          <a:p>
            <a:pPr algn="l">
              <a:spcAft>
                <a:spcPts val="200"/>
              </a:spcAft>
              <a:buNone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Results (test split, 1,632 plans)</a:t>
            </a:r>
          </a:p>
          <a:p>
            <a:pPr algn="l" marL="155448" indent="-155448">
              <a:spcAft>
                <a:spcPts val="25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1,586 valid (97%); benchmark plans 1,516 / 1,516</a:t>
            </a:r>
          </a:p>
          <a:p>
            <a:pPr algn="l" marL="155448" indent="-155448">
              <a:spcAft>
                <a:spcPts val="25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Hubs: 1 in 888 plans, 2 in 660, 3 in 69, 4–5 in 12; fewest possible by construction</a:t>
            </a:r>
          </a:p>
          <a:p>
            <a:pPr algn="l" marL="155448" indent="-155448">
              <a:spcAft>
                <a:spcPts val="25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0 crossings in every plan; overlap 0.17 m on average</a:t>
            </a:r>
          </a:p>
          <a:p>
            <a:pPr algn="l" marL="155448" indent="-155448">
              <a:spcAft>
                <a:spcPts val="25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J median 43.5; rip-up and reroute cut J by 0.29 on average</a:t>
            </a:r>
          </a:p>
          <a:p>
            <a:pPr algn="l" marL="155448" indent="-155448">
              <a:spcAft>
                <a:spcPts val="250"/>
              </a:spcAft>
              <a:buClr>
                <a:srgbClr val="C8102E"/>
              </a:buClr>
              <a:buFont typeface="Arial"/>
              <a:buChar char="•"/>
            </a:pPr>
            <a:r>
              <a:rPr sz="1000" b="0" i="0" dirty="0">
                <a:solidFill>
                  <a:srgbClr val="323F4B"/>
                </a:solidFill>
                <a:latin typeface="Aptos"/>
              </a:rPr>
              <a:t>6.5 s per plan (median, 1 core); ≈ 3 h for all 17,000 on 14 cores</a:t>
            </a:r>
          </a:p>
        </p:txBody>
      </p:sp>
      <p:pic>
        <p:nvPicPr>
          <p:cNvPr id="18" name="Picture 17" descr="plan_29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43" y="1554480"/>
            <a:ext cx="3129394" cy="3063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4681728"/>
            <a:ext cx="342900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100"/>
              </a:spcAft>
              <a:buNone/>
            </a:pPr>
            <a:r>
              <a:rPr sz="900" b="1" i="0" dirty="0">
                <a:solidFill>
                  <a:srgbClr val="1F2933"/>
                </a:solidFill>
                <a:latin typeface="Aptos"/>
              </a:rPr>
              <a:t>2 hubs · J 56.46</a:t>
            </a:r>
            <a:r>
              <a:rPr sz="900" b="0" i="0" dirty="0">
                <a:solidFill>
                  <a:srgbClr val="52606D"/>
                </a:solidFill>
                <a:latin typeface="Aptos"/>
              </a:rPr>
              <a:t>  (lower bound 54.96)</a:t>
            </a:r>
          </a:p>
          <a:p>
            <a:pPr algn="ctr">
              <a:spcAft>
                <a:spcPts val="100"/>
              </a:spcAft>
              <a:buNone/>
            </a:pPr>
            <a:r>
              <a:rPr sz="900" b="0" i="0" dirty="0">
                <a:solidFill>
                  <a:srgbClr val="52606D"/>
                </a:solidFill>
                <a:latin typeface="Aptos"/>
              </a:rPr>
              <a:t>L 46.5 m · X 0 · O 0 · B 20 · valid</a:t>
            </a:r>
          </a:p>
          <a:p>
            <a:pPr algn="ctr">
              <a:spcAft>
                <a:spcPts val="300"/>
              </a:spcAft>
              <a:buNone/>
            </a:pPr>
            <a:r>
              <a:rPr sz="800" b="0" i="0" dirty="0">
                <a:solidFill>
                  <a:srgbClr val="52606D"/>
                </a:solidFill>
                <a:latin typeface="Aptos"/>
              </a:rPr>
              <a:t>square = hub · dark dot = device · numbers = visiting order</a:t>
            </a:r>
          </a:p>
        </p:txBody>
      </p:sp>
      <p:pic>
        <p:nvPicPr>
          <p:cNvPr id="20" name="Picture 19" descr="plan_5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72768"/>
            <a:ext cx="3429000" cy="20817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79392" y="3749039"/>
            <a:ext cx="3401568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950" b="1" i="0" dirty="0">
                <a:solidFill>
                  <a:srgbClr val="C8102E"/>
                </a:solidFill>
                <a:latin typeface="Aptos"/>
              </a:rPr>
              <a:t>The living room alone is 113 m² </a:t>
            </a:r>
            <a:r>
              <a:rPr sz="950" b="0" i="0" dirty="0">
                <a:solidFill>
                  <a:srgbClr val="323F4B"/>
                </a:solidFill>
                <a:latin typeface="Aptos"/>
              </a:rPr>
              <a:t>(outlined), over the 100 m² cap, so no split can meet rule 2.</a:t>
            </a:r>
          </a:p>
          <a:p>
            <a:pPr algn="l">
              <a:spcAft>
                <a:spcPts val="300"/>
              </a:spcAft>
              <a:buNone/>
            </a:pPr>
            <a:r>
              <a:rPr sz="950" b="0" i="0" dirty="0">
                <a:solidFill>
                  <a:srgbClr val="323F4B"/>
                </a:solidFill>
                <a:latin typeface="Aptos"/>
              </a:rPr>
              <a:t>We still route a full design (3 hubs, J 70.0, no crossings) and report rule 2 as broken.</a:t>
            </a:r>
          </a:p>
          <a:p>
            <a:pPr algn="l">
              <a:spcAft>
                <a:spcPts val="300"/>
              </a:spcAft>
              <a:buNone/>
            </a:pPr>
            <a:r>
              <a:rPr sz="950" b="0" i="0" dirty="0">
                <a:solidFill>
                  <a:srgbClr val="52606D"/>
                </a:solidFill>
                <a:latin typeface="Aptos"/>
              </a:rPr>
              <a:t>42 of the 1,632 test plans have such a room. All are outside the organisers'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Remaining issues and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0"/>
                </a:solidFill>
                <a:latin typeface="Aptos"/>
              </a:rPr>
              <a:t>What is left to fix, and what could go beyond the current scope?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Full notes, decisions and measurements: README.md and CLAUDE.md in the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Intermediate update  |  Team: HackHive  |  3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559552" cy="36118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528523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Remaining issues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current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3063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1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Hidden-plan input format unknown. </a:t>
            </a:r>
            <a:r>
              <a:rPr sz="1100" b="1" i="0" dirty="0">
                <a:solidFill>
                  <a:srgbClr val="C8102E"/>
                </a:solidFill>
                <a:latin typeface="Aptos"/>
              </a:rPr>
              <a:t>Could stop us.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The deck does not show it; our loader reads ResPlan dicts and GeoJSON / WKT / coordinate lists. Fix: an adapter as soon as we see a sample.</a:t>
            </a:r>
          </a:p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2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J about 2.0 above our lower bound.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Entering and leaving a one-door room on parallel lines costs a bend the bound ignores, and legs are routed one at a time. Fix: move hubs and swap visiting orders during clean-up.</a:t>
            </a:r>
          </a:p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3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Runtime tail.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Big plans with many zone splits: p90 21 s, max 122 s (soft cap 90 s, hit once). Fix: reuse distance tables across splits, prune splits earlier. Matters if there is a time limit.</a:t>
            </a:r>
          </a:p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4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Plans outside the benchmark (46 / 1,632).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Data limits: a room over 100 m², sliver rooms, sealed rooms. Rule 2 cannot be met there; we output the best design and name the broken rule.</a:t>
            </a:r>
          </a:p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5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Device points.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We place our own (room centre). If the organisers give node points we use them unchanged; we need their format to be 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605272" cy="36118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527048"/>
            <a:ext cx="533095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Improvements beyond scope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ideas, not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525780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1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Bill of materials and cost: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cable metres per hub, connectors and labour time, so an installer gets a quote straight from the plan.</a:t>
            </a:r>
          </a:p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2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What-if editing: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drag a hub or device in the web app and re-route in seconds, to try layouts with the customer on site.</a:t>
            </a:r>
          </a:p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3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Real installation rules: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runs along walls or ceilings, door frames, bend radius, keep-out zones such as wet rooms, a maximum ring length. The drawing can then be built as is.</a:t>
            </a:r>
          </a:p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4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Multi-floor buildings and CAD export: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risers at stairs, DXF / IFC output for contractors.</a:t>
            </a:r>
          </a:p>
          <a:p>
            <a:pPr algn="l" marL="155448" indent="-155448">
              <a:spcAft>
                <a:spcPts val="500"/>
              </a:spcAft>
              <a:buClr>
                <a:srgbClr val="1F2933"/>
              </a:buClr>
              <a:buFont typeface="Aptos"/>
              <a:buAutoNum type="arabicPeriod" startAt="5"/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Learned warm start: </a:t>
            </a:r>
            <a:r>
              <a:rPr sz="1100" b="0" i="0" dirty="0">
                <a:solidFill>
                  <a:srgbClr val="323F4B"/>
                </a:solidFill>
                <a:latin typeface="Aptos"/>
              </a:rPr>
              <a:t>train on the 17,000 solved plans to predict zones and hub points, for large sites.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84648"/>
            <a:ext cx="11274552" cy="114300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248656"/>
            <a:ext cx="1100023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Next steps and help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96128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34924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00" b="1" i="0" dirty="0">
                <a:solidFill>
                  <a:srgbClr val="1F2933"/>
                </a:solidFill>
                <a:latin typeface="Aptos"/>
              </a:rPr>
              <a:t>Next, in order: </a:t>
            </a:r>
            <a:r>
              <a:rPr sz="1000" b="0" i="0" dirty="0">
                <a:solidFill>
                  <a:srgbClr val="323F4B"/>
                </a:solidFill>
                <a:latin typeface="Aptos"/>
              </a:rPr>
              <a:t>1. run all 17,000 plans (≈ 3 h) and check every benchmark plan is valid; 2. close the J gap (hub moves, order swaps) and cut the runtime tail; 3. package the one-command run and the web app for the demo.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623560"/>
            <a:ext cx="534924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00" b="1" i="0" dirty="0">
                <a:solidFill>
                  <a:srgbClr val="C8102E"/>
                </a:solidFill>
                <a:latin typeface="Aptos"/>
              </a:rPr>
              <a:t>Help needed: </a:t>
            </a:r>
            <a:r>
              <a:rPr sz="1000" b="0" i="0" dirty="0">
                <a:solidFill>
                  <a:srgbClr val="323F4B"/>
                </a:solidFill>
                <a:latin typeface="Aptos"/>
              </a:rPr>
              <a:t>a sample input JSON for the hidden plans; any time limit per plan; a yes / no on our readings (rule 3 through any room, crossings once per point incl. touches, a hub right next to its only device).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461</Words>
  <Application>Microsoft Office PowerPoint</Application>
  <PresentationFormat>Widescreen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Solution approach and algorithm</vt:lpstr>
      <vt:lpstr>Current progress and screenshots</vt:lpstr>
      <vt:lpstr>Remaining issues and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update template</dc:title>
  <dc:subject/>
  <dc:creator/>
  <cp:keywords/>
  <dc:description/>
  <cp:lastModifiedBy>R, Ragesh</cp:lastModifiedBy>
  <cp:revision>2</cp:revision>
  <dcterms:created xsi:type="dcterms:W3CDTF">2026-10-12T03:04:09Z</dcterms:created>
  <dcterms:modified xsi:type="dcterms:W3CDTF">2026-10-16T05:22:13Z</dcterms:modified>
  <cp:category/>
</cp:coreProperties>
</file>